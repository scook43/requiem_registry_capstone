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ontserrat"/>
      <p:regular r:id="rId17"/>
      <p:bold r:id="rId18"/>
      <p:italic r:id="rId19"/>
      <p:boldItalic r:id="rId20"/>
    </p:embeddedFont>
    <p:embeddedFont>
      <p:font typeface="Lato"/>
      <p:regular r:id="rId21"/>
      <p:bold r:id="rId22"/>
      <p:italic r:id="rId23"/>
      <p:boldItalic r:id="rId24"/>
    </p:embeddedFont>
    <p:embeddedFont>
      <p:font typeface="Lato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Light-bold.fntdata"/><Relationship Id="rId25" Type="http://schemas.openxmlformats.org/officeDocument/2006/relationships/font" Target="fonts/LatoLight-regular.fntdata"/><Relationship Id="rId28" Type="http://schemas.openxmlformats.org/officeDocument/2006/relationships/font" Target="fonts/LatoLight-boldItalic.fntdata"/><Relationship Id="rId27" Type="http://schemas.openxmlformats.org/officeDocument/2006/relationships/font" Target="fonts/Lato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regular.fntdata"/><Relationship Id="rId16" Type="http://schemas.openxmlformats.org/officeDocument/2006/relationships/slide" Target="slides/slide11.xml"/><Relationship Id="rId19" Type="http://schemas.openxmlformats.org/officeDocument/2006/relationships/font" Target="fonts/Montserrat-italic.fntdata"/><Relationship Id="rId1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d2ac4176d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d2ac4176d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d2ac4176d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4d2ac4176d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d2ac4176d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d2ac4176d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51aa718e8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51aa718e8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51aa718e8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51aa718e8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4d2ac4176d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4d2ac4176d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e32511f0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4e32511f0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Deploying the website </a:t>
            </a:r>
            <a:r>
              <a:rPr lang="en" sz="1200">
                <a:solidFill>
                  <a:schemeClr val="dk1"/>
                </a:solidFill>
              </a:rPr>
              <a:t>locally</a:t>
            </a:r>
            <a:r>
              <a:rPr lang="en" sz="1200">
                <a:solidFill>
                  <a:schemeClr val="dk1"/>
                </a:solidFill>
              </a:rPr>
              <a:t> begins with cloning the repository from its GitHub and accessing it with an Integrated Development Environment. </a:t>
            </a:r>
            <a:br>
              <a:rPr lang="en" sz="1200">
                <a:solidFill>
                  <a:schemeClr val="dk1"/>
                </a:solidFill>
              </a:rPr>
            </a:br>
            <a:br>
              <a:rPr lang="en" sz="1200">
                <a:solidFill>
                  <a:schemeClr val="dk1"/>
                </a:solidFill>
              </a:rPr>
            </a:br>
            <a:r>
              <a:rPr lang="en" sz="1200">
                <a:solidFill>
                  <a:schemeClr val="dk1"/>
                </a:solidFill>
              </a:rPr>
              <a:t>Once in the IDE, whether it’s Webstorm or VSCode, the next step is to open the its terminal and enter the commands NPM Install and NPM Start; this will deploy a localhost for the website, which can be accessed by any browser on the machine.</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Any changes to the source code can be made with the IDE and these updates can be managed with repository </a:t>
            </a:r>
            <a:r>
              <a:rPr lang="en" sz="1200">
                <a:solidFill>
                  <a:schemeClr val="dk1"/>
                </a:solidFill>
              </a:rPr>
              <a:t>actions</a:t>
            </a:r>
            <a:r>
              <a:rPr lang="en" sz="1200">
                <a:solidFill>
                  <a:schemeClr val="dk1"/>
                </a:solidFill>
              </a:rPr>
              <a:t> like push, pull, add, commit and merge until the site is in a </a:t>
            </a:r>
            <a:r>
              <a:rPr lang="en" sz="1200">
                <a:solidFill>
                  <a:schemeClr val="dk1"/>
                </a:solidFill>
              </a:rPr>
              <a:t>satisfactory</a:t>
            </a:r>
            <a:r>
              <a:rPr lang="en" sz="1200">
                <a:solidFill>
                  <a:schemeClr val="dk1"/>
                </a:solidFill>
              </a:rPr>
              <a:t> state.</a:t>
            </a:r>
            <a:endParaRPr sz="12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51aa718e83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51aa718e83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ready for online deployment, the website’s repository can be deployed via Vercel. However, this simple process is limited to those working on the repository alone or who can pay Vercel to allow additional people to work on the repository.</a:t>
            </a:r>
            <a:br>
              <a:rPr lang="en"/>
            </a:br>
            <a:br>
              <a:rPr lang="en"/>
            </a:br>
            <a:r>
              <a:rPr lang="en"/>
              <a:t>For everyone else, it is </a:t>
            </a:r>
            <a:r>
              <a:rPr lang="en"/>
              <a:t>recommend</a:t>
            </a:r>
            <a:r>
              <a:rPr lang="en"/>
              <a:t> that a Gmail account be created and used to make a </a:t>
            </a:r>
            <a:r>
              <a:rPr lang="en"/>
              <a:t>corresponding</a:t>
            </a:r>
            <a:r>
              <a:rPr lang="en"/>
              <a:t> GitHub and Vercel account.</a:t>
            </a:r>
            <a:br>
              <a:rPr lang="en"/>
            </a:br>
            <a:br>
              <a:rPr lang="en"/>
            </a:br>
            <a:r>
              <a:rPr lang="en"/>
              <a:t>With this, the original or cloned repository for Requiem Registry can be forked and deployed with Vercel.</a:t>
            </a:r>
            <a:br>
              <a:rPr lang="en"/>
            </a:br>
            <a:br>
              <a:rPr lang="en"/>
            </a:br>
            <a:r>
              <a:rPr lang="en"/>
              <a:t>Any updates or future deployments would be handled by this master account, which would be shared among the development team</a:t>
            </a:r>
            <a:r>
              <a:rPr lang="en">
                <a:solidFill>
                  <a:schemeClr val="dk1"/>
                </a:solidFill>
              </a:rPr>
              <a:t> to evade the Vercel’s collaboration fees.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d2ac4176d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d2ac4176d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Requiem</a:t>
            </a:r>
            <a:r>
              <a:rPr lang="en"/>
              <a:t> </a:t>
            </a:r>
            <a:r>
              <a:rPr lang="en"/>
              <a:t>Registry</a:t>
            </a:r>
            <a:r>
              <a:rPr lang="en"/>
              <a:t> isn’t perfect; it has bugs and </a:t>
            </a:r>
            <a:r>
              <a:rPr lang="en"/>
              <a:t>incomplete</a:t>
            </a:r>
            <a:r>
              <a:rPr lang="en"/>
              <a:t> features, five of which are listed here.</a:t>
            </a:r>
            <a:br>
              <a:rPr lang="en"/>
            </a:br>
            <a:br>
              <a:rPr lang="en"/>
            </a:br>
            <a:r>
              <a:rPr lang="en"/>
              <a:t>Starting at the top, there’s the Next of Kin attributes from the person’s table. These were supposed to hold info about a person’s closest </a:t>
            </a:r>
            <a:r>
              <a:rPr lang="en"/>
              <a:t>relative, which caretakers would use to contact them if needed. Adding these to the table and website would be easy considering the attributes that have been created so far; the reason we haven’t is because this feature is more of an addition than a necessity, the latter being our priority.</a:t>
            </a:r>
            <a:br>
              <a:rPr lang="en"/>
            </a:br>
            <a:br>
              <a:rPr lang="en"/>
            </a:br>
            <a:r>
              <a:rPr lang="en"/>
              <a:t>The same reason applies to the website’s responsive design, or lack thereof. It looks decent on desktop, but it’ll look weird and claustrophobic if you narrow the window too much or open the site on mobile. Solving this would require a better understanding of HTML and CSS, as well as possibly revising the mock ups for each page so that implementing a responsive design is easier.</a:t>
            </a:r>
            <a:br>
              <a:rPr lang="en"/>
            </a:br>
            <a:br>
              <a:rPr lang="en"/>
            </a:br>
            <a:r>
              <a:rPr lang="en"/>
              <a:t>Looking at the examples on this slide, a lot of you may be wondering ‘is that Google Maps?’, it’s only a PNG. Integrating Google Maps into the site was one of the first features that was cut; studying it’s API while addressing any bugs that came up would take time we couldn’t spare. Instead, we decided early on that maps on the site would be a static image linked to their cemetery.</a:t>
            </a:r>
            <a:br>
              <a:rPr lang="en"/>
            </a:br>
            <a:br>
              <a:rPr lang="en"/>
            </a:br>
            <a:r>
              <a:rPr lang="en"/>
              <a:t>Next, and a tad more severe, is the website’s delete operation; it is permanent. There is currently a popup that asks the admin to confirm before deleting anything, but this can be improved by adding a “isDeleted” boolean attribute to all tables. This’d be set to false initially, but once it’s set to true with the delete operation, the entry would be filtered out of all future queries. This would allow an easy path to restore the entry later if needed.</a:t>
            </a:r>
            <a:br>
              <a:rPr lang="en"/>
            </a:br>
            <a:br>
              <a:rPr lang="en"/>
            </a:br>
            <a:r>
              <a:rPr lang="en"/>
              <a:t>Lastly, a big issue for Requiem Registry is it only has one admin; who has reading and writing privileges for all of the database’s entries. Solving this would need a system that can add and remove admins, limit their privileges by cemetery if needed, designate a person or persons to make these choices (aka administrate the administrators), all the while ensuring the system is secure but not so secure that it gets deadlocked if someone at the top croakes or forgets their password. As with all these issues, we simply didn’t have enough time.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d2ac4176d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d2ac4176d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Requiem</a:t>
            </a:r>
            <a:r>
              <a:rPr lang="en"/>
              <a:t> Registry</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Samantha Cook, Lucas Gamboa, Bricen Hicks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 </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Lato Light"/>
                <a:ea typeface="Lato Light"/>
                <a:cs typeface="Lato Light"/>
                <a:sym typeface="Lato Light"/>
              </a:rPr>
              <a:t>Imagine you want to find a loved one's grave, and you know it is in a small cemetery in a rural area; where do you begin to find their grave? Most small cemeteries in rural areas have little to no management or proper records to help point you in the right direction. Requiem Registry aims to solve this problem for the public and provide a better-streamlined management system for cemeteries.​</a:t>
            </a:r>
            <a:endParaRPr>
              <a:latin typeface="Lato Light"/>
              <a:ea typeface="Lato Light"/>
              <a:cs typeface="Lato Light"/>
              <a:sym typeface="La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Technology</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Lato Light"/>
                <a:ea typeface="Lato Light"/>
                <a:cs typeface="Lato Light"/>
                <a:sym typeface="Lato Light"/>
              </a:rPr>
              <a:t>Requiem Registry’s website is built using React, HTML, and CSS to design the user interface. The language for the website’s database is PostgreSQL, which is hosted via Supabase. The website is deployed and hosted on the internet via Vercel hosting services. It utilizes Google Authentication API to provide a secure sign-in for administrative users. Updates and maintenance are performed with the use of a repository on GitHub to allow collaboration among developers and provide easy version control management.</a:t>
            </a:r>
            <a:endParaRPr>
              <a:latin typeface="Lato Light"/>
              <a:ea typeface="Lato Light"/>
              <a:cs typeface="Lato Light"/>
              <a:sym typeface="Lato Light"/>
            </a:endParaRPr>
          </a:p>
          <a:p>
            <a:pPr indent="0" lvl="0" marL="0" rtl="0" algn="l">
              <a:spcBef>
                <a:spcPts val="0"/>
              </a:spcBef>
              <a:spcAft>
                <a:spcPts val="1200"/>
              </a:spcAft>
              <a:buNone/>
            </a:pPr>
            <a:r>
              <a:t/>
            </a:r>
            <a:endParaRPr>
              <a:latin typeface="Lato Light"/>
              <a:ea typeface="Lato Light"/>
              <a:cs typeface="Lato Light"/>
              <a:sym typeface="La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Design Overview </a:t>
            </a:r>
            <a:endParaRPr/>
          </a:p>
        </p:txBody>
      </p:sp>
      <p:sp>
        <p:nvSpPr>
          <p:cNvPr id="153" name="Google Shape;153;p16"/>
          <p:cNvSpPr txBox="1"/>
          <p:nvPr>
            <p:ph idx="1" type="body"/>
          </p:nvPr>
        </p:nvSpPr>
        <p:spPr>
          <a:xfrm>
            <a:off x="4231225" y="1567550"/>
            <a:ext cx="4563000" cy="31782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The project uses a modular React setup.</a:t>
            </a:r>
            <a:endParaRPr/>
          </a:p>
          <a:p>
            <a:pPr indent="-311150" lvl="0" marL="457200" rtl="0" algn="l">
              <a:lnSpc>
                <a:spcPct val="150000"/>
              </a:lnSpc>
              <a:spcBef>
                <a:spcPts val="0"/>
              </a:spcBef>
              <a:spcAft>
                <a:spcPts val="0"/>
              </a:spcAft>
              <a:buSzPts val="1300"/>
              <a:buChar char="●"/>
            </a:pPr>
            <a:r>
              <a:rPr lang="en"/>
              <a:t>The src folder is divided into subdirectories to separate different parts of the website.</a:t>
            </a:r>
            <a:endParaRPr/>
          </a:p>
          <a:p>
            <a:pPr indent="-311150" lvl="0" marL="457200" rtl="0" algn="l">
              <a:lnSpc>
                <a:spcPct val="150000"/>
              </a:lnSpc>
              <a:spcBef>
                <a:spcPts val="0"/>
              </a:spcBef>
              <a:spcAft>
                <a:spcPts val="0"/>
              </a:spcAft>
              <a:buSzPts val="1300"/>
              <a:buChar char="●"/>
            </a:pPr>
            <a:r>
              <a:rPr lang="en"/>
              <a:t>Each section handles a specific function, like cemetery data, maps, plots, and people.</a:t>
            </a:r>
            <a:endParaRPr/>
          </a:p>
          <a:p>
            <a:pPr indent="-311150" lvl="0" marL="457200" rtl="0" algn="l">
              <a:lnSpc>
                <a:spcPct val="150000"/>
              </a:lnSpc>
              <a:spcBef>
                <a:spcPts val="0"/>
              </a:spcBef>
              <a:spcAft>
                <a:spcPts val="0"/>
              </a:spcAft>
              <a:buSzPts val="1300"/>
              <a:buChar char="●"/>
            </a:pPr>
            <a:r>
              <a:rPr lang="en"/>
              <a:t>A Figma mockup was made to agree on layout and features before starting development</a:t>
            </a:r>
            <a:endParaRPr/>
          </a:p>
        </p:txBody>
      </p:sp>
      <p:pic>
        <p:nvPicPr>
          <p:cNvPr id="154" name="Google Shape;154;p16"/>
          <p:cNvPicPr preferRelativeResize="0"/>
          <p:nvPr/>
        </p:nvPicPr>
        <p:blipFill>
          <a:blip r:embed="rId3">
            <a:alphaModFix/>
          </a:blip>
          <a:stretch>
            <a:fillRect/>
          </a:stretch>
        </p:blipFill>
        <p:spPr>
          <a:xfrm>
            <a:off x="314425" y="1483194"/>
            <a:ext cx="4051400" cy="288101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Design: </a:t>
            </a:r>
            <a:r>
              <a:rPr lang="en"/>
              <a:t>src Directory and Core Files</a:t>
            </a:r>
            <a:endParaRPr/>
          </a:p>
        </p:txBody>
      </p:sp>
      <p:sp>
        <p:nvSpPr>
          <p:cNvPr id="160" name="Google Shape;160;p17"/>
          <p:cNvSpPr txBox="1"/>
          <p:nvPr>
            <p:ph idx="1" type="body"/>
          </p:nvPr>
        </p:nvSpPr>
        <p:spPr>
          <a:xfrm>
            <a:off x="634150" y="1567550"/>
            <a:ext cx="4264500" cy="2911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a:t>Title: src/ Directory Structure</a:t>
            </a:r>
            <a:endParaRPr/>
          </a:p>
          <a:p>
            <a:pPr indent="0" lvl="0" marL="0" rtl="0" algn="l">
              <a:lnSpc>
                <a:spcPct val="150000"/>
              </a:lnSpc>
              <a:spcBef>
                <a:spcPts val="1200"/>
              </a:spcBef>
              <a:spcAft>
                <a:spcPts val="0"/>
              </a:spcAft>
              <a:buNone/>
            </a:pPr>
            <a:r>
              <a:rPr lang="en"/>
              <a:t>Key files:</a:t>
            </a:r>
            <a:endParaRPr/>
          </a:p>
          <a:p>
            <a:pPr indent="-311150" lvl="0" marL="457200" rtl="0" algn="l">
              <a:lnSpc>
                <a:spcPct val="150000"/>
              </a:lnSpc>
              <a:spcBef>
                <a:spcPts val="1200"/>
              </a:spcBef>
              <a:spcAft>
                <a:spcPts val="0"/>
              </a:spcAft>
              <a:buSzPts val="1300"/>
              <a:buChar char="●"/>
            </a:pPr>
            <a:r>
              <a:rPr lang="en"/>
              <a:t>App.jsx: Handles page routing and login checks.</a:t>
            </a:r>
            <a:endParaRPr/>
          </a:p>
          <a:p>
            <a:pPr indent="-311150" lvl="0" marL="457200" rtl="0" algn="l">
              <a:lnSpc>
                <a:spcPct val="150000"/>
              </a:lnSpc>
              <a:spcBef>
                <a:spcPts val="0"/>
              </a:spcBef>
              <a:spcAft>
                <a:spcPts val="0"/>
              </a:spcAft>
              <a:buSzPts val="1300"/>
              <a:buChar char="●"/>
            </a:pPr>
            <a:r>
              <a:rPr lang="en"/>
              <a:t>index.js: Sets up the app and Google authentication.</a:t>
            </a:r>
            <a:endParaRPr/>
          </a:p>
          <a:p>
            <a:pPr indent="-311150" lvl="0" marL="457200" rtl="0" algn="l">
              <a:lnSpc>
                <a:spcPct val="150000"/>
              </a:lnSpc>
              <a:spcBef>
                <a:spcPts val="0"/>
              </a:spcBef>
              <a:spcAft>
                <a:spcPts val="0"/>
              </a:spcAft>
              <a:buSzPts val="1300"/>
              <a:buChar char="●"/>
            </a:pPr>
            <a:r>
              <a:rPr lang="en"/>
              <a:t>HomePage.jsx: Public landing page with cemetery selection and person search.</a:t>
            </a:r>
            <a:endParaRPr/>
          </a:p>
        </p:txBody>
      </p:sp>
      <p:pic>
        <p:nvPicPr>
          <p:cNvPr id="161" name="Google Shape;161;p17"/>
          <p:cNvPicPr preferRelativeResize="0"/>
          <p:nvPr/>
        </p:nvPicPr>
        <p:blipFill>
          <a:blip r:embed="rId3">
            <a:alphaModFix/>
          </a:blip>
          <a:stretch>
            <a:fillRect/>
          </a:stretch>
        </p:blipFill>
        <p:spPr>
          <a:xfrm>
            <a:off x="5562050" y="1368500"/>
            <a:ext cx="2774350" cy="3309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Design: Authentication and Routing Logic</a:t>
            </a:r>
            <a:endParaRPr/>
          </a:p>
        </p:txBody>
      </p:sp>
      <p:sp>
        <p:nvSpPr>
          <p:cNvPr id="167" name="Google Shape;167;p18"/>
          <p:cNvSpPr txBox="1"/>
          <p:nvPr>
            <p:ph idx="1" type="body"/>
          </p:nvPr>
        </p:nvSpPr>
        <p:spPr>
          <a:xfrm>
            <a:off x="297625" y="1548325"/>
            <a:ext cx="4805100" cy="29112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App.jsx controls which pages users can access based on login status.</a:t>
            </a:r>
            <a:endParaRPr/>
          </a:p>
          <a:p>
            <a:pPr indent="-311150" lvl="0" marL="457200" rtl="0" algn="l">
              <a:lnSpc>
                <a:spcPct val="150000"/>
              </a:lnSpc>
              <a:spcBef>
                <a:spcPts val="0"/>
              </a:spcBef>
              <a:spcAft>
                <a:spcPts val="0"/>
              </a:spcAft>
              <a:buSzPts val="1300"/>
              <a:buChar char="●"/>
            </a:pPr>
            <a:r>
              <a:rPr lang="en"/>
              <a:t>Logged-in users see different navigation options than general users.</a:t>
            </a:r>
            <a:endParaRPr/>
          </a:p>
          <a:p>
            <a:pPr indent="-311150" lvl="0" marL="457200" rtl="0" algn="l">
              <a:lnSpc>
                <a:spcPct val="150000"/>
              </a:lnSpc>
              <a:spcBef>
                <a:spcPts val="0"/>
              </a:spcBef>
              <a:spcAft>
                <a:spcPts val="0"/>
              </a:spcAft>
              <a:buSzPts val="1300"/>
              <a:buChar char="●"/>
            </a:pPr>
            <a:r>
              <a:rPr lang="en"/>
              <a:t>Admins can add cemeteries, edit plots, and update person records.</a:t>
            </a:r>
            <a:endParaRPr/>
          </a:p>
          <a:p>
            <a:pPr indent="-311150" lvl="0" marL="457200" rtl="0" algn="l">
              <a:lnSpc>
                <a:spcPct val="150000"/>
              </a:lnSpc>
              <a:spcBef>
                <a:spcPts val="0"/>
              </a:spcBef>
              <a:spcAft>
                <a:spcPts val="0"/>
              </a:spcAft>
              <a:buSzPts val="1300"/>
              <a:buChar char="●"/>
            </a:pPr>
            <a:r>
              <a:rPr lang="en"/>
              <a:t>The navigation bar and page routes change based on user type.</a:t>
            </a:r>
            <a:endParaRPr/>
          </a:p>
        </p:txBody>
      </p:sp>
      <p:pic>
        <p:nvPicPr>
          <p:cNvPr id="168" name="Google Shape;168;p18"/>
          <p:cNvPicPr preferRelativeResize="0"/>
          <p:nvPr/>
        </p:nvPicPr>
        <p:blipFill>
          <a:blip r:embed="rId3">
            <a:alphaModFix/>
          </a:blip>
          <a:stretch>
            <a:fillRect/>
          </a:stretch>
        </p:blipFill>
        <p:spPr>
          <a:xfrm>
            <a:off x="5102772" y="926362"/>
            <a:ext cx="3816502" cy="1929393"/>
          </a:xfrm>
          <a:prstGeom prst="rect">
            <a:avLst/>
          </a:prstGeom>
          <a:noFill/>
          <a:ln>
            <a:noFill/>
          </a:ln>
        </p:spPr>
      </p:pic>
      <p:pic>
        <p:nvPicPr>
          <p:cNvPr id="169" name="Google Shape;169;p18"/>
          <p:cNvPicPr preferRelativeResize="0"/>
          <p:nvPr/>
        </p:nvPicPr>
        <p:blipFill>
          <a:blip r:embed="rId4">
            <a:alphaModFix/>
          </a:blip>
          <a:stretch>
            <a:fillRect/>
          </a:stretch>
        </p:blipFill>
        <p:spPr>
          <a:xfrm>
            <a:off x="5102725" y="2940650"/>
            <a:ext cx="3816489" cy="19293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to Deploy</a:t>
            </a:r>
            <a:endParaRPr/>
          </a:p>
        </p:txBody>
      </p:sp>
      <p:sp>
        <p:nvSpPr>
          <p:cNvPr id="175" name="Google Shape;175;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Deployment is </a:t>
            </a:r>
            <a:r>
              <a:rPr lang="en"/>
              <a:t>achieved via Github Repo being hosted and deployed on Vercel</a:t>
            </a:r>
            <a:endParaRPr/>
          </a:p>
          <a:p>
            <a:pPr indent="0" lvl="0" marL="0" rtl="0" algn="l">
              <a:spcBef>
                <a:spcPts val="1200"/>
              </a:spcBef>
              <a:spcAft>
                <a:spcPts val="0"/>
              </a:spcAft>
              <a:buNone/>
            </a:pPr>
            <a:r>
              <a:rPr lang="en"/>
              <a:t>To bypass Vercel collaborator restrictions we forked our Repo and then used that fork to deploy.</a:t>
            </a:r>
            <a:endParaRPr/>
          </a:p>
          <a:p>
            <a:pPr indent="0" lvl="0" marL="0" rtl="0" algn="l">
              <a:spcBef>
                <a:spcPts val="1200"/>
              </a:spcBef>
              <a:spcAft>
                <a:spcPts val="0"/>
              </a:spcAft>
              <a:buNone/>
            </a:pPr>
            <a:r>
              <a:rPr lang="en"/>
              <a:t> </a:t>
            </a:r>
            <a:endParaRPr/>
          </a:p>
          <a:p>
            <a:pPr indent="0" lvl="0" marL="0" rtl="0" algn="l">
              <a:spcBef>
                <a:spcPts val="1200"/>
              </a:spcBef>
              <a:spcAft>
                <a:spcPts val="0"/>
              </a:spcAft>
              <a:buNone/>
            </a:pPr>
            <a:r>
              <a:rPr lang="en"/>
              <a:t>The project can be run locally for development and testing.</a:t>
            </a:r>
            <a:endParaRPr/>
          </a:p>
          <a:p>
            <a:pPr indent="0" lvl="0" marL="0" rtl="0" algn="l">
              <a:spcBef>
                <a:spcPts val="1200"/>
              </a:spcBef>
              <a:spcAft>
                <a:spcPts val="0"/>
              </a:spcAft>
              <a:buNone/>
            </a:pPr>
            <a:r>
              <a:rPr lang="en"/>
              <a:t>Changes are pushed to GitHub for version control and collaboration.</a:t>
            </a:r>
            <a:endParaRPr/>
          </a:p>
          <a:p>
            <a:pPr indent="0" lvl="0" marL="0" rtl="0" algn="l">
              <a:spcBef>
                <a:spcPts val="1200"/>
              </a:spcBef>
              <a:spcAft>
                <a:spcPts val="0"/>
              </a:spcAft>
              <a:buNone/>
            </a:pPr>
            <a:r>
              <a:rPr lang="en"/>
              <a:t>Final deployment is handled through Vercel for live access.</a:t>
            </a:r>
            <a:endParaRPr/>
          </a:p>
          <a:p>
            <a:pPr indent="0" lvl="0" marL="0" rtl="0" algn="l">
              <a:spcBef>
                <a:spcPts val="1200"/>
              </a:spcBef>
              <a:spcAft>
                <a:spcPts val="1200"/>
              </a:spcAft>
              <a:buNone/>
            </a:pPr>
            <a:r>
              <a:rPr lang="en"/>
              <a:t>Shared GitHub and Vercel accounts are used for team-wide consistency.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to Deploy: Local Version </a:t>
            </a:r>
            <a:endParaRPr/>
          </a:p>
        </p:txBody>
      </p:sp>
      <p:sp>
        <p:nvSpPr>
          <p:cNvPr id="181" name="Google Shape;181;p20"/>
          <p:cNvSpPr txBox="1"/>
          <p:nvPr>
            <p:ph idx="1" type="body"/>
          </p:nvPr>
        </p:nvSpPr>
        <p:spPr>
          <a:xfrm>
            <a:off x="377275" y="1567550"/>
            <a:ext cx="3583800" cy="29112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Clone the repository from GitHub into your IDE (VSCode, WebStorm, etc.).</a:t>
            </a:r>
            <a:endParaRPr/>
          </a:p>
          <a:p>
            <a:pPr indent="-311150" lvl="0" marL="457200" rtl="0" algn="l">
              <a:lnSpc>
                <a:spcPct val="150000"/>
              </a:lnSpc>
              <a:spcBef>
                <a:spcPts val="0"/>
              </a:spcBef>
              <a:spcAft>
                <a:spcPts val="0"/>
              </a:spcAft>
              <a:buSzPts val="1300"/>
              <a:buChar char="●"/>
            </a:pPr>
            <a:r>
              <a:rPr lang="en"/>
              <a:t>Run the project locally to view and test changes</a:t>
            </a:r>
            <a:endParaRPr/>
          </a:p>
          <a:p>
            <a:pPr indent="-311150" lvl="0" marL="457200" rtl="0" algn="l">
              <a:lnSpc>
                <a:spcPct val="150000"/>
              </a:lnSpc>
              <a:spcBef>
                <a:spcPts val="0"/>
              </a:spcBef>
              <a:spcAft>
                <a:spcPts val="0"/>
              </a:spcAft>
              <a:buSzPts val="1300"/>
              <a:buChar char="●"/>
            </a:pPr>
            <a:r>
              <a:rPr lang="en"/>
              <a:t>Use git pull, git add, git commit, and git push to manage updates.</a:t>
            </a:r>
            <a:endParaRPr/>
          </a:p>
          <a:p>
            <a:pPr indent="-311150" lvl="0" marL="457200" rtl="0" algn="l">
              <a:lnSpc>
                <a:spcPct val="150000"/>
              </a:lnSpc>
              <a:spcBef>
                <a:spcPts val="0"/>
              </a:spcBef>
              <a:spcAft>
                <a:spcPts val="0"/>
              </a:spcAft>
              <a:buSzPts val="1300"/>
              <a:buChar char="●"/>
            </a:pPr>
            <a:r>
              <a:rPr lang="en"/>
              <a:t>Continue merging and updating code until the project is complete.</a:t>
            </a:r>
            <a:endParaRPr/>
          </a:p>
        </p:txBody>
      </p:sp>
      <p:pic>
        <p:nvPicPr>
          <p:cNvPr id="182" name="Google Shape;182;p20"/>
          <p:cNvPicPr preferRelativeResize="0"/>
          <p:nvPr/>
        </p:nvPicPr>
        <p:blipFill>
          <a:blip r:embed="rId3">
            <a:alphaModFix/>
          </a:blip>
          <a:stretch>
            <a:fillRect/>
          </a:stretch>
        </p:blipFill>
        <p:spPr>
          <a:xfrm>
            <a:off x="3961000" y="1415200"/>
            <a:ext cx="5069449" cy="26053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to Deploy: Online Version  </a:t>
            </a:r>
            <a:endParaRPr/>
          </a:p>
        </p:txBody>
      </p:sp>
      <p:sp>
        <p:nvSpPr>
          <p:cNvPr id="188" name="Google Shape;188;p21"/>
          <p:cNvSpPr txBox="1"/>
          <p:nvPr>
            <p:ph idx="1" type="body"/>
          </p:nvPr>
        </p:nvSpPr>
        <p:spPr>
          <a:xfrm>
            <a:off x="388550" y="1531200"/>
            <a:ext cx="4042500" cy="30690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Use the shared Gmail to fork the project from the original GitHub.</a:t>
            </a:r>
            <a:endParaRPr/>
          </a:p>
          <a:p>
            <a:pPr indent="-311150" lvl="0" marL="457200" rtl="0" algn="l">
              <a:lnSpc>
                <a:spcPct val="150000"/>
              </a:lnSpc>
              <a:spcBef>
                <a:spcPts val="0"/>
              </a:spcBef>
              <a:spcAft>
                <a:spcPts val="0"/>
              </a:spcAft>
              <a:buSzPts val="1300"/>
              <a:buChar char="●"/>
            </a:pPr>
            <a:r>
              <a:rPr lang="en"/>
              <a:t>Log in to Vercel using the same shared account.</a:t>
            </a:r>
            <a:endParaRPr/>
          </a:p>
          <a:p>
            <a:pPr indent="-311150" lvl="0" marL="457200" rtl="0" algn="l">
              <a:lnSpc>
                <a:spcPct val="150000"/>
              </a:lnSpc>
              <a:spcBef>
                <a:spcPts val="0"/>
              </a:spcBef>
              <a:spcAft>
                <a:spcPts val="0"/>
              </a:spcAft>
              <a:buSzPts val="1300"/>
              <a:buChar char="●"/>
            </a:pPr>
            <a:r>
              <a:rPr lang="en"/>
              <a:t>Import the forked project from GitHub into Vercel.</a:t>
            </a:r>
            <a:endParaRPr/>
          </a:p>
          <a:p>
            <a:pPr indent="-311150" lvl="0" marL="457200" rtl="0" algn="l">
              <a:lnSpc>
                <a:spcPct val="150000"/>
              </a:lnSpc>
              <a:spcBef>
                <a:spcPts val="0"/>
              </a:spcBef>
              <a:spcAft>
                <a:spcPts val="0"/>
              </a:spcAft>
              <a:buSzPts val="1300"/>
              <a:buChar char="●"/>
            </a:pPr>
            <a:r>
              <a:rPr lang="en"/>
              <a:t>Vercel will automatically deploy on each push to the connected branch</a:t>
            </a:r>
            <a:endParaRPr/>
          </a:p>
        </p:txBody>
      </p:sp>
      <p:pic>
        <p:nvPicPr>
          <p:cNvPr id="189" name="Google Shape;189;p21"/>
          <p:cNvPicPr preferRelativeResize="0"/>
          <p:nvPr/>
        </p:nvPicPr>
        <p:blipFill>
          <a:blip r:embed="rId3">
            <a:alphaModFix/>
          </a:blip>
          <a:stretch>
            <a:fillRect/>
          </a:stretch>
        </p:blipFill>
        <p:spPr>
          <a:xfrm>
            <a:off x="4431050" y="1395500"/>
            <a:ext cx="4481249" cy="2352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Known Issues</a:t>
            </a:r>
            <a:endParaRPr/>
          </a:p>
        </p:txBody>
      </p:sp>
      <p:sp>
        <p:nvSpPr>
          <p:cNvPr id="195" name="Google Shape;195;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Next of Kin attributes vestigial</a:t>
            </a:r>
            <a:endParaRPr/>
          </a:p>
          <a:p>
            <a:pPr indent="-298450" lvl="1" marL="914400" rtl="0" algn="l">
              <a:spcBef>
                <a:spcPts val="0"/>
              </a:spcBef>
              <a:spcAft>
                <a:spcPts val="0"/>
              </a:spcAft>
              <a:buSzPts val="1100"/>
              <a:buChar char="○"/>
            </a:pPr>
            <a:r>
              <a:rPr lang="en"/>
              <a:t>No way to enter Next of Kin info</a:t>
            </a:r>
            <a:endParaRPr/>
          </a:p>
          <a:p>
            <a:pPr indent="-311150" lvl="0" marL="457200" rtl="0" algn="l">
              <a:spcBef>
                <a:spcPts val="0"/>
              </a:spcBef>
              <a:spcAft>
                <a:spcPts val="0"/>
              </a:spcAft>
              <a:buSzPts val="1300"/>
              <a:buChar char="●"/>
            </a:pPr>
            <a:r>
              <a:rPr lang="en"/>
              <a:t>Lacks </a:t>
            </a:r>
            <a:r>
              <a:rPr lang="en"/>
              <a:t>responsive</a:t>
            </a:r>
            <a:r>
              <a:rPr lang="en"/>
              <a:t> design</a:t>
            </a:r>
            <a:endParaRPr/>
          </a:p>
          <a:p>
            <a:pPr indent="-298450" lvl="1" marL="914400" rtl="0" algn="l">
              <a:spcBef>
                <a:spcPts val="0"/>
              </a:spcBef>
              <a:spcAft>
                <a:spcPts val="0"/>
              </a:spcAft>
              <a:buSzPts val="1100"/>
              <a:buChar char="○"/>
            </a:pPr>
            <a:r>
              <a:rPr lang="en"/>
              <a:t>Looks bad on mobile</a:t>
            </a:r>
            <a:endParaRPr/>
          </a:p>
          <a:p>
            <a:pPr indent="-311150" lvl="0" marL="457200" rtl="0" algn="l">
              <a:spcBef>
                <a:spcPts val="0"/>
              </a:spcBef>
              <a:spcAft>
                <a:spcPts val="0"/>
              </a:spcAft>
              <a:buSzPts val="1300"/>
              <a:buChar char="●"/>
            </a:pPr>
            <a:r>
              <a:rPr lang="en"/>
              <a:t>No Google Maps integration</a:t>
            </a:r>
            <a:endParaRPr/>
          </a:p>
          <a:p>
            <a:pPr indent="-298450" lvl="1" marL="914400" rtl="0" algn="l">
              <a:spcBef>
                <a:spcPts val="0"/>
              </a:spcBef>
              <a:spcAft>
                <a:spcPts val="0"/>
              </a:spcAft>
              <a:buSzPts val="1100"/>
              <a:buChar char="○"/>
            </a:pPr>
            <a:r>
              <a:rPr lang="en"/>
              <a:t> Current maps are just PNGs</a:t>
            </a:r>
            <a:endParaRPr/>
          </a:p>
          <a:p>
            <a:pPr indent="-311150" lvl="0" marL="457200" rtl="0" algn="l">
              <a:spcBef>
                <a:spcPts val="0"/>
              </a:spcBef>
              <a:spcAft>
                <a:spcPts val="0"/>
              </a:spcAft>
              <a:buSzPts val="1300"/>
              <a:buChar char="●"/>
            </a:pPr>
            <a:r>
              <a:rPr lang="en"/>
              <a:t>No Safe Deletion</a:t>
            </a:r>
            <a:endParaRPr/>
          </a:p>
          <a:p>
            <a:pPr indent="-298450" lvl="1" marL="914400" rtl="0" algn="l">
              <a:spcBef>
                <a:spcPts val="0"/>
              </a:spcBef>
              <a:spcAft>
                <a:spcPts val="0"/>
              </a:spcAft>
              <a:buSzPts val="1100"/>
              <a:buChar char="○"/>
            </a:pPr>
            <a:r>
              <a:rPr lang="en"/>
              <a:t>Deleting database entries is permanent.</a:t>
            </a:r>
            <a:endParaRPr/>
          </a:p>
          <a:p>
            <a:pPr indent="-311150" lvl="0" marL="457200" rtl="0" algn="l">
              <a:spcBef>
                <a:spcPts val="0"/>
              </a:spcBef>
              <a:spcAft>
                <a:spcPts val="0"/>
              </a:spcAft>
              <a:buSzPts val="1300"/>
              <a:buChar char="●"/>
            </a:pPr>
            <a:r>
              <a:rPr lang="en"/>
              <a:t>Only one administrator</a:t>
            </a:r>
            <a:endParaRPr/>
          </a:p>
          <a:p>
            <a:pPr indent="-298450" lvl="1" marL="914400" rtl="0" algn="l">
              <a:spcBef>
                <a:spcPts val="0"/>
              </a:spcBef>
              <a:spcAft>
                <a:spcPts val="0"/>
              </a:spcAft>
              <a:buSzPts val="1100"/>
              <a:buChar char="○"/>
            </a:pPr>
            <a:r>
              <a:rPr lang="en"/>
              <a:t>Writing privileges over all cemeteries held by one account.</a:t>
            </a:r>
            <a:endParaRPr/>
          </a:p>
        </p:txBody>
      </p:sp>
      <p:pic>
        <p:nvPicPr>
          <p:cNvPr id="196" name="Google Shape;196;p22" title="Screenshot 2025-05-06 3.50.31 PM.png"/>
          <p:cNvPicPr preferRelativeResize="0"/>
          <p:nvPr/>
        </p:nvPicPr>
        <p:blipFill>
          <a:blip r:embed="rId3">
            <a:alphaModFix/>
          </a:blip>
          <a:stretch>
            <a:fillRect/>
          </a:stretch>
        </p:blipFill>
        <p:spPr>
          <a:xfrm>
            <a:off x="4437350" y="558175"/>
            <a:ext cx="4098701" cy="2177432"/>
          </a:xfrm>
          <a:prstGeom prst="rect">
            <a:avLst/>
          </a:prstGeom>
          <a:noFill/>
          <a:ln>
            <a:noFill/>
          </a:ln>
          <a:effectLst>
            <a:outerShdw blurRad="57150" rotWithShape="0" algn="bl" dir="5400000" dist="19050">
              <a:srgbClr val="000000">
                <a:alpha val="50000"/>
              </a:srgbClr>
            </a:outerShdw>
          </a:effectLst>
        </p:spPr>
      </p:pic>
      <p:pic>
        <p:nvPicPr>
          <p:cNvPr id="197" name="Google Shape;197;p22" title="Screenshot 2025-05-06 3.50.42 PM.png"/>
          <p:cNvPicPr preferRelativeResize="0"/>
          <p:nvPr/>
        </p:nvPicPr>
        <p:blipFill>
          <a:blip r:embed="rId4">
            <a:alphaModFix/>
          </a:blip>
          <a:stretch>
            <a:fillRect/>
          </a:stretch>
        </p:blipFill>
        <p:spPr>
          <a:xfrm>
            <a:off x="6715574" y="2220900"/>
            <a:ext cx="1434900" cy="234174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